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3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2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071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rgbClr val="8A8F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rgbClr val="8A8F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58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666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666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2"/>
                </a:solidFill>
              </a:rPr>
              <a:t>REINVENTING EDUCATION WITH AI | IDEATION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that adapts to the child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AI-assisted learning from Grade 1, working alongside teachers and students, built to increase children's interest in learning instead of killing it.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Not AI bolted onto today's classroom, but a system designed around it.</a:t>
            </a:r>
            <a:endParaRPr lang="en-US" sz="1400" dirty="0"/>
          </a:p>
        </p:txBody>
      </p:sp>
      <p:sp>
        <p:nvSpPr>
          <p:cNvPr id="6" name="Problem panel"/>
          <p:cNvSpPr/>
          <p:nvPr/>
        </p:nvSpPr>
        <p:spPr>
          <a:xfrm>
            <a:off x="6766560" y="640080"/>
            <a:ext cx="4873752" cy="5577840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132320" y="868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8" name="Icon circle FaUsers"/>
          <p:cNvSpPr/>
          <p:nvPr/>
        </p:nvSpPr>
        <p:spPr>
          <a:xfrm>
            <a:off x="7132320" y="158191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con FaUsers" descr="FaUs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71907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909560" y="150876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One pace for the whole room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Fast learners get bored, slower learners fall behind.</a:t>
            </a:r>
            <a:endParaRPr lang="en-US" sz="1600" dirty="0"/>
          </a:p>
        </p:txBody>
      </p:sp>
      <p:sp>
        <p:nvSpPr>
          <p:cNvPr id="11" name="Icon circle FaEyeSlash"/>
          <p:cNvSpPr/>
          <p:nvPr/>
        </p:nvSpPr>
        <p:spPr>
          <a:xfrm>
            <a:off x="7132320" y="275234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con FaEyeSlash" descr="FaEyeSlas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88950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0" y="2679192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Strengths go unnoticed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Talent in sports, arts or practical skills is found late, if ever.</a:t>
            </a:r>
            <a:endParaRPr lang="en-US" sz="1600" dirty="0"/>
          </a:p>
        </p:txBody>
      </p:sp>
      <p:sp>
        <p:nvSpPr>
          <p:cNvPr id="14" name="Icon circle FaFileAlt"/>
          <p:cNvSpPr/>
          <p:nvPr/>
        </p:nvSpPr>
        <p:spPr>
          <a:xfrm>
            <a:off x="7132320" y="392277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con FaFileAlt" descr="FaFileA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4059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909560" y="3849624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Exams reward memorization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Learning becomes a chore, not something to enjoy.</a:t>
            </a:r>
            <a:endParaRPr lang="en-US" sz="1600" dirty="0"/>
          </a:p>
        </p:txBody>
      </p:sp>
      <p:sp>
        <p:nvSpPr>
          <p:cNvPr id="17" name="Icon circle FaTasks"/>
          <p:cNvSpPr/>
          <p:nvPr/>
        </p:nvSpPr>
        <p:spPr>
          <a:xfrm>
            <a:off x="7132320" y="509320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con FaTasks" descr="FaTask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523036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909560" y="5020056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Teachers are overloaded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Repetitive checking leaves little time for individual children.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the system works</a:t>
            </a:r>
            <a:endParaRPr lang="en-US" sz="3400" dirty="0"/>
          </a:p>
        </p:txBody>
      </p:sp>
      <p:sp>
        <p:nvSpPr>
          <p:cNvPr id="3" name="Card Foundation to personal path"/>
          <p:cNvSpPr/>
          <p:nvPr/>
        </p:nvSpPr>
        <p:spPr>
          <a:xfrm>
            <a:off x="548640" y="1371600"/>
            <a:ext cx="3511296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Icon circle FaRoute"/>
          <p:cNvSpPr/>
          <p:nvPr/>
        </p:nvSpPr>
        <p:spPr>
          <a:xfrm>
            <a:off x="777240" y="15727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con FaRoute" descr="FaRou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1698498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72768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to personal path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40280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For </a:t>
            </a:r>
            <a:r>
              <a:rPr lang="en-US" sz="1400" dirty="0"/>
              <a:t>g</a:t>
            </a:r>
            <a:r>
              <a:rPr lang="en-US" sz="1400" dirty="0">
                <a:solidFill>
                  <a:schemeClr val="tx1"/>
                </a:solidFill>
              </a:rPr>
              <a:t>rades 1–4, ~70% common curriculum plus early exposure to arts, sports, tech and skills; not overloading the child, but introducing these with simple activities. After Grade 4, electives follow the child; a core stays and choices are reversible.</a:t>
            </a:r>
            <a:endParaRPr lang="en-US" sz="1400" dirty="0"/>
          </a:p>
        </p:txBody>
      </p:sp>
      <p:sp>
        <p:nvSpPr>
          <p:cNvPr id="8" name="Card Personal AI tutor"/>
          <p:cNvSpPr/>
          <p:nvPr/>
        </p:nvSpPr>
        <p:spPr>
          <a:xfrm>
            <a:off x="4334256" y="1371600"/>
            <a:ext cx="3511296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Icon circle FaRobot"/>
          <p:cNvSpPr/>
          <p:nvPr/>
        </p:nvSpPr>
        <p:spPr>
          <a:xfrm>
            <a:off x="4562856" y="15727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con FaRobot" descr="FaRob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8586" y="1698498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02936" y="1572768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AI tutor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62856" y="2240280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Explains at the child's level, checks homework, tracks progress and spots interests. Gives hints, not direct answers. Short, teacher-guided sessions for young children.</a:t>
            </a:r>
            <a:endParaRPr lang="en-US" sz="1400" dirty="0"/>
          </a:p>
        </p:txBody>
      </p:sp>
      <p:sp>
        <p:nvSpPr>
          <p:cNvPr id="13" name="Card Learning by doing"/>
          <p:cNvSpPr/>
          <p:nvPr/>
        </p:nvSpPr>
        <p:spPr>
          <a:xfrm>
            <a:off x="8119872" y="1371600"/>
            <a:ext cx="3511296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Icon circle FaFlask"/>
          <p:cNvSpPr/>
          <p:nvPr/>
        </p:nvSpPr>
        <p:spPr>
          <a:xfrm>
            <a:off x="8348472" y="15727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con FaFlask" descr="FaFlas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4202" y="1698498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88552" y="1572768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by doing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48472" y="2240280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Experiments, building projects, art, sports, field visits and apprenticeships for older students. Virtual labs fill gaps where resources are limited.</a:t>
            </a:r>
            <a:endParaRPr lang="en-US" sz="1400" dirty="0"/>
          </a:p>
        </p:txBody>
      </p:sp>
      <p:sp>
        <p:nvSpPr>
          <p:cNvPr id="18" name="Card Curiosity first"/>
          <p:cNvSpPr/>
          <p:nvPr/>
        </p:nvSpPr>
        <p:spPr>
          <a:xfrm>
            <a:off x="548640" y="3977640"/>
            <a:ext cx="3511296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Icon circle FaLightbulb"/>
          <p:cNvSpPr/>
          <p:nvPr/>
        </p:nvSpPr>
        <p:spPr>
          <a:xfrm>
            <a:off x="777240" y="417880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con FaLightbulb" descr="FaLightbul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0" y="4304538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4178808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Curiosity first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846320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Stories, games and cartoons for the young, real choice for the older. Low-stakes practice where mistakes are part of learning. Engagement counts, not just marks.</a:t>
            </a:r>
            <a:endParaRPr lang="en-US" sz="1400" dirty="0"/>
          </a:p>
        </p:txBody>
      </p:sp>
      <p:sp>
        <p:nvSpPr>
          <p:cNvPr id="23" name="Card Continuous assessment"/>
          <p:cNvSpPr/>
          <p:nvPr/>
        </p:nvSpPr>
        <p:spPr>
          <a:xfrm>
            <a:off x="4334256" y="3977640"/>
            <a:ext cx="3511296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Icon circle FaClipboardCheck"/>
          <p:cNvSpPr/>
          <p:nvPr/>
        </p:nvSpPr>
        <p:spPr>
          <a:xfrm>
            <a:off x="4562856" y="417880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con FaClipboardCheck" descr="FaClipboardChec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8586" y="4304538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02936" y="4178808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assessment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562856" y="4846320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single final exam. Memory, understanding, application and critical thinking are assessed over time, with understanding checked through explanation and projects.</a:t>
            </a:r>
            <a:endParaRPr lang="en-US" sz="1400" dirty="0"/>
          </a:p>
        </p:txBody>
      </p:sp>
      <p:sp>
        <p:nvSpPr>
          <p:cNvPr id="28" name="Card Discovering the child"/>
          <p:cNvSpPr/>
          <p:nvPr/>
        </p:nvSpPr>
        <p:spPr>
          <a:xfrm>
            <a:off x="8119872" y="3977640"/>
            <a:ext cx="3511296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Icon circle FaCompass"/>
          <p:cNvSpPr/>
          <p:nvPr/>
        </p:nvSpPr>
        <p:spPr>
          <a:xfrm>
            <a:off x="8348472" y="417880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con FaCompass" descr="FaCompas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4202" y="4304538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988552" y="4178808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Discovering the child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48472" y="4846320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Low-stakes, hands-on tasks in every stream reveal strengths. Light checkpoints build an advisory strengths profile, not a rank. The child decides.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Student, teacher and AI: who does what</a:t>
            </a:r>
            <a:endParaRPr lang="en-US" sz="3400" dirty="0"/>
          </a:p>
        </p:txBody>
      </p:sp>
      <p:sp>
        <p:nvSpPr>
          <p:cNvPr id="3" name="Role AI"/>
          <p:cNvSpPr/>
          <p:nvPr/>
        </p:nvSpPr>
        <p:spPr>
          <a:xfrm>
            <a:off x="548640" y="1371600"/>
            <a:ext cx="3511296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Icon circle FaRobot"/>
          <p:cNvSpPr/>
          <p:nvPr/>
        </p:nvSpPr>
        <p:spPr>
          <a:xfrm>
            <a:off x="777240" y="157276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con FaRobot" descr="FaRob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1698498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72768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4028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Personalization, practice, homework, feedback and progress monitoring. A dashboard shows teachers who is stuck, where and why.</a:t>
            </a:r>
            <a:endParaRPr lang="en-US" sz="1400" dirty="0"/>
          </a:p>
        </p:txBody>
      </p:sp>
      <p:sp>
        <p:nvSpPr>
          <p:cNvPr id="8" name="Role Teacher"/>
          <p:cNvSpPr/>
          <p:nvPr/>
        </p:nvSpPr>
        <p:spPr>
          <a:xfrm>
            <a:off x="4334256" y="1371600"/>
            <a:ext cx="3511296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Icon circle FaChalkboardTeacher"/>
          <p:cNvSpPr/>
          <p:nvPr/>
        </p:nvSpPr>
        <p:spPr>
          <a:xfrm>
            <a:off x="4562856" y="157276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con FaChalkboardTeacher" descr="FaChalkboardTeach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8586" y="1698498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02936" y="1572768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62856" y="224028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Mentorship, guidance, human judgment and emotional support, with final authority on assessment.</a:t>
            </a:r>
            <a:endParaRPr lang="en-US" sz="1400" dirty="0"/>
          </a:p>
        </p:txBody>
      </p:sp>
      <p:sp>
        <p:nvSpPr>
          <p:cNvPr id="13" name="Role Student"/>
          <p:cNvSpPr/>
          <p:nvPr/>
        </p:nvSpPr>
        <p:spPr>
          <a:xfrm>
            <a:off x="8119872" y="1371600"/>
            <a:ext cx="3511296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Icon circle FaUserGraduate"/>
          <p:cNvSpPr/>
          <p:nvPr/>
        </p:nvSpPr>
        <p:spPr>
          <a:xfrm>
            <a:off x="8348472" y="157276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con FaUserGraduate" descr="FaUserGradua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4202" y="1698498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88552" y="1572768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48472" y="224028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Curiosity, exploration, creativity and decision-making. The child chooses; the system advises.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is used</a:t>
            </a:r>
            <a:endParaRPr lang="en-US" sz="2200" dirty="0"/>
          </a:p>
        </p:txBody>
      </p:sp>
      <p:sp>
        <p:nvSpPr>
          <p:cNvPr id="19" name="AI component LLM tutor"/>
          <p:cNvSpPr/>
          <p:nvPr/>
        </p:nvSpPr>
        <p:spPr>
          <a:xfrm>
            <a:off x="548640" y="4343400"/>
            <a:ext cx="2035454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 txBox="1"/>
          <p:nvPr/>
        </p:nvSpPr>
        <p:spPr>
          <a:xfrm>
            <a:off x="731520" y="4507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731520" y="4910328"/>
            <a:ext cx="16696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LLM tutor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" y="5257800"/>
            <a:ext cx="16696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Grounded in the verified curriculum</a:t>
            </a:r>
            <a:endParaRPr lang="en-US" sz="1400" dirty="0"/>
          </a:p>
        </p:txBody>
      </p:sp>
      <p:sp>
        <p:nvSpPr>
          <p:cNvPr id="23" name="AI component Learner model"/>
          <p:cNvSpPr/>
          <p:nvPr/>
        </p:nvSpPr>
        <p:spPr>
          <a:xfrm>
            <a:off x="2812694" y="4343400"/>
            <a:ext cx="2035454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 txBox="1"/>
          <p:nvPr/>
        </p:nvSpPr>
        <p:spPr>
          <a:xfrm>
            <a:off x="2995574" y="4507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2995574" y="4910328"/>
            <a:ext cx="16696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Learner model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2995574" y="5257800"/>
            <a:ext cx="16696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Estimates mastery of each concept</a:t>
            </a:r>
            <a:endParaRPr lang="en-US" sz="1400" dirty="0"/>
          </a:p>
        </p:txBody>
      </p:sp>
      <p:sp>
        <p:nvSpPr>
          <p:cNvPr id="27" name="AI component Interest inference"/>
          <p:cNvSpPr/>
          <p:nvPr/>
        </p:nvSpPr>
        <p:spPr>
          <a:xfrm>
            <a:off x="5076749" y="4343400"/>
            <a:ext cx="2035454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 txBox="1"/>
          <p:nvPr/>
        </p:nvSpPr>
        <p:spPr>
          <a:xfrm>
            <a:off x="5259629" y="4507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4"/>
          <p:cNvSpPr txBox="1"/>
          <p:nvPr/>
        </p:nvSpPr>
        <p:spPr>
          <a:xfrm>
            <a:off x="5259629" y="4910328"/>
            <a:ext cx="16696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Interest inference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5259629" y="5257800"/>
            <a:ext cx="16696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Spots aptitude across subjects, sports and arts</a:t>
            </a:r>
            <a:endParaRPr lang="en-US" sz="1400" dirty="0"/>
          </a:p>
        </p:txBody>
      </p:sp>
      <p:sp>
        <p:nvSpPr>
          <p:cNvPr id="31" name="AI component Content pipeline"/>
          <p:cNvSpPr/>
          <p:nvPr/>
        </p:nvSpPr>
        <p:spPr>
          <a:xfrm>
            <a:off x="7340803" y="4343400"/>
            <a:ext cx="2035454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 txBox="1"/>
          <p:nvPr/>
        </p:nvSpPr>
        <p:spPr>
          <a:xfrm>
            <a:off x="7523683" y="4507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28"/>
          <p:cNvSpPr txBox="1"/>
          <p:nvPr/>
        </p:nvSpPr>
        <p:spPr>
          <a:xfrm>
            <a:off x="7523683" y="4910328"/>
            <a:ext cx="16696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Content pipeline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7523683" y="5257800"/>
            <a:ext cx="16696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AI drafts courses and tests; experts verify</a:t>
            </a:r>
            <a:endParaRPr lang="en-US" sz="1400" dirty="0"/>
          </a:p>
        </p:txBody>
      </p:sp>
      <p:sp>
        <p:nvSpPr>
          <p:cNvPr id="35" name="AI component Simulations"/>
          <p:cNvSpPr/>
          <p:nvPr/>
        </p:nvSpPr>
        <p:spPr>
          <a:xfrm>
            <a:off x="9604858" y="4343400"/>
            <a:ext cx="2035454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 txBox="1"/>
          <p:nvPr/>
        </p:nvSpPr>
        <p:spPr>
          <a:xfrm>
            <a:off x="9787738" y="4507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2"/>
          <p:cNvSpPr txBox="1"/>
          <p:nvPr/>
        </p:nvSpPr>
        <p:spPr>
          <a:xfrm>
            <a:off x="9787738" y="4910328"/>
            <a:ext cx="16696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Simulations</a:t>
            </a:r>
            <a:endParaRPr lang="en-US" sz="1600" dirty="0"/>
          </a:p>
        </p:txBody>
      </p:sp>
      <p:sp>
        <p:nvSpPr>
          <p:cNvPr id="38" name="Text 33"/>
          <p:cNvSpPr txBox="1"/>
          <p:nvPr/>
        </p:nvSpPr>
        <p:spPr>
          <a:xfrm>
            <a:off x="9787738" y="5257800"/>
            <a:ext cx="16696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Virtual labs for practical learning</a:t>
            </a:r>
            <a:endParaRPr lang="en-US" sz="14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</a:rPr>
              <a:t>Risks, safeguards and impact</a:t>
            </a:r>
            <a:endParaRPr lang="en-US" sz="3400" dirty="0"/>
          </a:p>
        </p:txBody>
      </p:sp>
      <p:sp>
        <p:nvSpPr>
          <p:cNvPr id="3" name="Icon circle FaBrain"/>
          <p:cNvSpPr/>
          <p:nvPr/>
        </p:nvSpPr>
        <p:spPr>
          <a:xfrm>
            <a:off x="571500" y="16230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con FaBrain" descr="FaBr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763829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1732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Over-reliance on AI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Graduated hints instead of answers, flags for heavy hint use, and AI-free mastery checks such as oral explanations, self-written essays, etc.</a:t>
            </a:r>
            <a:endParaRPr lang="en-US" sz="1600" dirty="0"/>
          </a:p>
        </p:txBody>
      </p:sp>
      <p:sp>
        <p:nvSpPr>
          <p:cNvPr id="6" name="Icon circle FaUserShield"/>
          <p:cNvSpPr/>
          <p:nvPr/>
        </p:nvSpPr>
        <p:spPr>
          <a:xfrm>
            <a:off x="571500" y="280035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con FaUserShield" descr="FaUserShiel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293751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60604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 privacy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Minimal collection, data kept on-device or at school, parent and teacher oversight, no commercial use, DPDP Act compliance.</a:t>
            </a:r>
            <a:endParaRPr lang="en-US" sz="1600" dirty="0"/>
          </a:p>
        </p:txBody>
      </p:sp>
      <p:sp>
        <p:nvSpPr>
          <p:cNvPr id="9" name="Icon circle FaBalanceScale"/>
          <p:cNvSpPr/>
          <p:nvPr/>
        </p:nvSpPr>
        <p:spPr>
          <a:xfrm>
            <a:off x="571500" y="3977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con FaBalanceScale" descr="FaBalanceSca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41148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79476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Bias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Audits across languages, regions and groups. Mastery estimates stay probabilistic and revisable; teachers can override.</a:t>
            </a:r>
            <a:endParaRPr lang="en-US" sz="1600" dirty="0"/>
          </a:p>
        </p:txBody>
      </p:sp>
      <p:sp>
        <p:nvSpPr>
          <p:cNvPr id="12" name="Icon circle FaDoorOpen"/>
          <p:cNvSpPr/>
          <p:nvPr/>
        </p:nvSpPr>
        <p:spPr>
          <a:xfrm>
            <a:off x="571500" y="52349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con FaDoorOpen" descr="FaDoorOpe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" y="537210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9834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Early narrowing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 protected core stays for everyone, and every pathway remains open to change.</a:t>
            </a:r>
            <a:endParaRPr lang="en-US" sz="1600" dirty="0"/>
          </a:p>
        </p:txBody>
      </p:sp>
      <p:sp>
        <p:nvSpPr>
          <p:cNvPr id="15" name="Impact panel"/>
          <p:cNvSpPr/>
          <p:nvPr/>
        </p:nvSpPr>
        <p:spPr>
          <a:xfrm>
            <a:off x="7863840" y="1417320"/>
            <a:ext cx="3776472" cy="4709160"/>
          </a:xfrm>
          <a:prstGeom prst="roundRect">
            <a:avLst>
              <a:gd name="adj" fmla="val 3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 txBox="1"/>
          <p:nvPr/>
        </p:nvSpPr>
        <p:spPr>
          <a:xfrm>
            <a:off x="8183880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2200" dirty="0"/>
          </a:p>
        </p:txBody>
      </p:sp>
      <p:sp>
        <p:nvSpPr>
          <p:cNvPr id="17" name="Text 11"/>
          <p:cNvSpPr txBox="1"/>
          <p:nvPr/>
        </p:nvSpPr>
        <p:spPr>
          <a:xfrm>
            <a:off x="8183880" y="224028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Children who stay curious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Teachers who mentor instead of mark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Strengths found early, not late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Learners who understand and can apply what they know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183880" y="46634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should adapt to the child, not the other way around.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0" y="0"/>
            <a:ext cx="12192000" cy="26212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itle"/>
          <p:cNvSpPr txBox="1"/>
          <p:nvPr/>
        </p:nvSpPr>
        <p:spPr>
          <a:xfrm>
            <a:off x="715372" y="-513841"/>
            <a:ext cx="10728960" cy="18545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533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Reinventing Education with AI</a:t>
            </a:r>
            <a:endParaRPr lang="en-US" sz="4533" dirty="0"/>
          </a:p>
        </p:txBody>
      </p:sp>
      <p:sp>
        <p:nvSpPr>
          <p:cNvPr id="4" name="Title rule"/>
          <p:cNvSpPr/>
          <p:nvPr/>
        </p:nvSpPr>
        <p:spPr>
          <a:xfrm>
            <a:off x="747668" y="1484880"/>
            <a:ext cx="1219200" cy="609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agline"/>
          <p:cNvSpPr txBox="1"/>
          <p:nvPr/>
        </p:nvSpPr>
        <p:spPr>
          <a:xfrm>
            <a:off x="731520" y="1690045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Education that adapts to the child, not the other way around.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AI assists. Teachers guide. Students choose.</a:t>
            </a:r>
            <a:endParaRPr lang="en-US" sz="2000" dirty="0"/>
          </a:p>
        </p:txBody>
      </p:sp>
      <p:sp>
        <p:nvSpPr>
          <p:cNvPr id="6" name="AI card"/>
          <p:cNvSpPr/>
          <p:nvPr/>
        </p:nvSpPr>
        <p:spPr>
          <a:xfrm>
            <a:off x="609600" y="2926080"/>
            <a:ext cx="3413760" cy="201168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AI accent"/>
          <p:cNvSpPr/>
          <p:nvPr/>
        </p:nvSpPr>
        <p:spPr>
          <a:xfrm>
            <a:off x="853440" y="3145536"/>
            <a:ext cx="609600" cy="60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AI head"/>
          <p:cNvSpPr txBox="1"/>
          <p:nvPr/>
        </p:nvSpPr>
        <p:spPr>
          <a:xfrm>
            <a:off x="853440" y="3291840"/>
            <a:ext cx="2926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6" b="1" dirty="0">
                <a:solidFill>
                  <a:schemeClr val="tx1"/>
                </a:solidFill>
              </a:rPr>
              <a:t>AI: Supports</a:t>
            </a:r>
            <a:endParaRPr lang="en-US" sz="1866" dirty="0"/>
          </a:p>
        </p:txBody>
      </p:sp>
      <p:sp>
        <p:nvSpPr>
          <p:cNvPr id="9" name="AI body"/>
          <p:cNvSpPr txBox="1"/>
          <p:nvPr/>
        </p:nvSpPr>
        <p:spPr>
          <a:xfrm>
            <a:off x="853440" y="3803904"/>
            <a:ext cx="29260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66" dirty="0">
                <a:solidFill>
                  <a:schemeClr val="tx2"/>
                </a:solidFill>
              </a:rPr>
              <a:t>Personalizes pace and practice, gives hints, tracks progress and finds patterns.</a:t>
            </a:r>
            <a:endParaRPr lang="en-US" sz="1466" dirty="0"/>
          </a:p>
        </p:txBody>
      </p:sp>
      <p:sp>
        <p:nvSpPr>
          <p:cNvPr id="10" name="Teacher card"/>
          <p:cNvSpPr/>
          <p:nvPr/>
        </p:nvSpPr>
        <p:spPr>
          <a:xfrm>
            <a:off x="4389120" y="2926080"/>
            <a:ext cx="3413760" cy="201168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acher accent"/>
          <p:cNvSpPr/>
          <p:nvPr/>
        </p:nvSpPr>
        <p:spPr>
          <a:xfrm>
            <a:off x="4632960" y="3145536"/>
            <a:ext cx="609600" cy="609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acher head"/>
          <p:cNvSpPr txBox="1"/>
          <p:nvPr/>
        </p:nvSpPr>
        <p:spPr>
          <a:xfrm>
            <a:off x="4632960" y="3291840"/>
            <a:ext cx="2926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6" b="1" dirty="0">
                <a:solidFill>
                  <a:schemeClr val="tx1"/>
                </a:solidFill>
              </a:rPr>
              <a:t>Teacher: Guides</a:t>
            </a:r>
            <a:endParaRPr lang="en-US" sz="1866" dirty="0"/>
          </a:p>
        </p:txBody>
      </p:sp>
      <p:sp>
        <p:nvSpPr>
          <p:cNvPr id="13" name="Teacher body"/>
          <p:cNvSpPr txBox="1"/>
          <p:nvPr/>
        </p:nvSpPr>
        <p:spPr>
          <a:xfrm>
            <a:off x="4632960" y="3803904"/>
            <a:ext cx="29260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66" dirty="0">
                <a:solidFill>
                  <a:schemeClr val="tx2"/>
                </a:solidFill>
              </a:rPr>
              <a:t>Mentors, gives emotional support, has final say on assessment; freed from repetitive checking.</a:t>
            </a:r>
            <a:endParaRPr lang="en-US" sz="1466" dirty="0"/>
          </a:p>
        </p:txBody>
      </p:sp>
      <p:sp>
        <p:nvSpPr>
          <p:cNvPr id="14" name="Student card"/>
          <p:cNvSpPr/>
          <p:nvPr/>
        </p:nvSpPr>
        <p:spPr>
          <a:xfrm>
            <a:off x="8168640" y="2926080"/>
            <a:ext cx="3413760" cy="201168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tudent accent"/>
          <p:cNvSpPr/>
          <p:nvPr/>
        </p:nvSpPr>
        <p:spPr>
          <a:xfrm>
            <a:off x="8412480" y="3145536"/>
            <a:ext cx="609600" cy="609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tudent head"/>
          <p:cNvSpPr txBox="1"/>
          <p:nvPr/>
        </p:nvSpPr>
        <p:spPr>
          <a:xfrm>
            <a:off x="8412480" y="3291840"/>
            <a:ext cx="2926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6" b="1" dirty="0">
                <a:solidFill>
                  <a:schemeClr val="tx1"/>
                </a:solidFill>
              </a:rPr>
              <a:t>Student: Chooses</a:t>
            </a:r>
            <a:endParaRPr lang="en-US" sz="1866" dirty="0"/>
          </a:p>
        </p:txBody>
      </p:sp>
      <p:sp>
        <p:nvSpPr>
          <p:cNvPr id="17" name="Student body"/>
          <p:cNvSpPr txBox="1"/>
          <p:nvPr/>
        </p:nvSpPr>
        <p:spPr>
          <a:xfrm>
            <a:off x="8412480" y="3803904"/>
            <a:ext cx="29260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66" dirty="0">
                <a:solidFill>
                  <a:schemeClr val="tx2"/>
                </a:solidFill>
              </a:rPr>
              <a:t>Explores, creates and makes choices; decides the direction of their own learning.</a:t>
            </a:r>
            <a:endParaRPr lang="en-US" sz="1466" dirty="0"/>
          </a:p>
        </p:txBody>
      </p:sp>
      <p:sp>
        <p:nvSpPr>
          <p:cNvPr id="18" name="Structure band"/>
          <p:cNvSpPr/>
          <p:nvPr/>
        </p:nvSpPr>
        <p:spPr>
          <a:xfrm>
            <a:off x="609600" y="5120640"/>
            <a:ext cx="10972800" cy="115824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tructure text"/>
          <p:cNvSpPr txBox="1"/>
          <p:nvPr/>
        </p:nvSpPr>
        <p:spPr>
          <a:xfrm>
            <a:off x="914400" y="5181600"/>
            <a:ext cx="103632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</a:rPr>
              <a:t>Learning structure: </a:t>
            </a:r>
            <a:r>
              <a:rPr lang="en-US" sz="1600" dirty="0">
                <a:solidFill>
                  <a:srgbClr val="FFFFFF"/>
                </a:solidFill>
              </a:rPr>
              <a:t>Grades 1-4 follow a ~70% common curriculum plus early exposure to arts, sports and technology. Curiosity first, no single final exam, and electives after Grade 4 stay reversible.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rgbClr val="8A8F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1" name="AI accent">
            <a:extLst>
              <a:ext uri="{FF2B5EF4-FFF2-40B4-BE49-F238E27FC236}">
                <a16:creationId xmlns:a16="http://schemas.microsoft.com/office/drawing/2014/main" id="{DF99BDF8-10EC-36E8-6FAF-17446F5F7FEB}"/>
              </a:ext>
            </a:extLst>
          </p:cNvPr>
          <p:cNvSpPr/>
          <p:nvPr/>
        </p:nvSpPr>
        <p:spPr>
          <a:xfrm>
            <a:off x="1" y="2639568"/>
            <a:ext cx="12192000" cy="6095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2999E7-7D5F-DD3F-7B5C-73D1A672666A}"/>
              </a:ext>
            </a:extLst>
          </p:cNvPr>
          <p:cNvSpPr txBox="1"/>
          <p:nvPr/>
        </p:nvSpPr>
        <p:spPr>
          <a:xfrm>
            <a:off x="609600" y="259528"/>
            <a:ext cx="41534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30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TECHNICAL DOCUMENTATION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2A2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6576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33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System architecture</a:t>
            </a:r>
            <a:endParaRPr lang="en-US" sz="3733" dirty="0"/>
          </a:p>
        </p:txBody>
      </p:sp>
      <p:sp>
        <p:nvSpPr>
          <p:cNvPr id="3" name="Tier 1 card"/>
          <p:cNvSpPr/>
          <p:nvPr/>
        </p:nvSpPr>
        <p:spPr>
          <a:xfrm>
            <a:off x="609600" y="1584960"/>
            <a:ext cx="2560320" cy="28041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er 1 accent"/>
          <p:cNvSpPr/>
          <p:nvPr/>
        </p:nvSpPr>
        <p:spPr>
          <a:xfrm>
            <a:off x="853440" y="1804416"/>
            <a:ext cx="609600" cy="60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ier 1 head"/>
          <p:cNvSpPr txBox="1"/>
          <p:nvPr/>
        </p:nvSpPr>
        <p:spPr>
          <a:xfrm>
            <a:off x="853440" y="1950720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3" b="1" dirty="0">
                <a:solidFill>
                  <a:schemeClr val="tx1"/>
                </a:solidFill>
              </a:rPr>
              <a:t>1. Apps</a:t>
            </a:r>
            <a:endParaRPr lang="en-US" sz="1733" dirty="0"/>
          </a:p>
        </p:txBody>
      </p:sp>
      <p:sp>
        <p:nvSpPr>
          <p:cNvPr id="6" name="Tier 1 body"/>
          <p:cNvSpPr txBox="1"/>
          <p:nvPr/>
        </p:nvSpPr>
        <p:spPr>
          <a:xfrm>
            <a:off x="853440" y="2462784"/>
            <a:ext cx="207264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33" dirty="0">
                <a:solidFill>
                  <a:schemeClr val="tx2"/>
                </a:solidFill>
              </a:rPr>
              <a:t>Installable web app: tutor chat and voice, activities, labs, teacher dashboard.</a:t>
            </a:r>
            <a:endParaRPr lang="en-US" sz="1733" dirty="0"/>
          </a:p>
        </p:txBody>
      </p:sp>
      <p:sp>
        <p:nvSpPr>
          <p:cNvPr id="7" name="Tier 2 card"/>
          <p:cNvSpPr/>
          <p:nvPr/>
        </p:nvSpPr>
        <p:spPr>
          <a:xfrm>
            <a:off x="3413760" y="1584960"/>
            <a:ext cx="2560320" cy="28041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ier 2 accent"/>
          <p:cNvSpPr/>
          <p:nvPr/>
        </p:nvSpPr>
        <p:spPr>
          <a:xfrm>
            <a:off x="3657600" y="1804416"/>
            <a:ext cx="609600" cy="609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ier 2 head"/>
          <p:cNvSpPr txBox="1"/>
          <p:nvPr/>
        </p:nvSpPr>
        <p:spPr>
          <a:xfrm>
            <a:off x="3657600" y="1950720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3" b="1" dirty="0">
                <a:solidFill>
                  <a:schemeClr val="tx1"/>
                </a:solidFill>
              </a:rPr>
              <a:t>2. School server</a:t>
            </a:r>
            <a:endParaRPr lang="en-US" sz="1733" dirty="0"/>
          </a:p>
        </p:txBody>
      </p:sp>
      <p:sp>
        <p:nvSpPr>
          <p:cNvPr id="10" name="Tier 2 body"/>
          <p:cNvSpPr txBox="1"/>
          <p:nvPr/>
        </p:nvSpPr>
        <p:spPr>
          <a:xfrm>
            <a:off x="3657600" y="2462784"/>
            <a:ext cx="207264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33" dirty="0">
                <a:solidFill>
                  <a:schemeClr val="tx2"/>
                </a:solidFill>
              </a:rPr>
              <a:t>Learner model, student records, cached lessons and labs, sync queue. Works offline.</a:t>
            </a:r>
            <a:endParaRPr lang="en-US" sz="1733" dirty="0"/>
          </a:p>
        </p:txBody>
      </p:sp>
      <p:sp>
        <p:nvSpPr>
          <p:cNvPr id="11" name="Tier 3 card"/>
          <p:cNvSpPr/>
          <p:nvPr/>
        </p:nvSpPr>
        <p:spPr>
          <a:xfrm>
            <a:off x="6217920" y="1584960"/>
            <a:ext cx="2560320" cy="28041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ier 3 accent"/>
          <p:cNvSpPr/>
          <p:nvPr/>
        </p:nvSpPr>
        <p:spPr>
          <a:xfrm>
            <a:off x="6461760" y="1804416"/>
            <a:ext cx="609600" cy="609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ier 3 head"/>
          <p:cNvSpPr txBox="1"/>
          <p:nvPr/>
        </p:nvSpPr>
        <p:spPr>
          <a:xfrm>
            <a:off x="6461760" y="1950720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3" b="1" dirty="0">
                <a:solidFill>
                  <a:schemeClr val="tx1"/>
                </a:solidFill>
              </a:rPr>
              <a:t>3. Cloud services</a:t>
            </a:r>
            <a:endParaRPr lang="en-US" sz="1733" dirty="0"/>
          </a:p>
        </p:txBody>
      </p:sp>
      <p:sp>
        <p:nvSpPr>
          <p:cNvPr id="14" name="Tier 3 body"/>
          <p:cNvSpPr txBox="1"/>
          <p:nvPr/>
        </p:nvSpPr>
        <p:spPr>
          <a:xfrm>
            <a:off x="6461760" y="2462784"/>
            <a:ext cx="207264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33" dirty="0">
                <a:solidFill>
                  <a:schemeClr val="tx2"/>
                </a:solidFill>
              </a:rPr>
              <a:t>AI model gateway, content review tools, anonymized analytics and updates.</a:t>
            </a:r>
            <a:endParaRPr lang="en-US" sz="1733" dirty="0"/>
          </a:p>
        </p:txBody>
      </p:sp>
      <p:sp>
        <p:nvSpPr>
          <p:cNvPr id="15" name="Tier 4 card"/>
          <p:cNvSpPr/>
          <p:nvPr/>
        </p:nvSpPr>
        <p:spPr>
          <a:xfrm>
            <a:off x="9022080" y="1584960"/>
            <a:ext cx="2560320" cy="28041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ier 4 accent"/>
          <p:cNvSpPr/>
          <p:nvPr/>
        </p:nvSpPr>
        <p:spPr>
          <a:xfrm>
            <a:off x="9265920" y="1804416"/>
            <a:ext cx="609600" cy="609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ier 4 head"/>
          <p:cNvSpPr txBox="1"/>
          <p:nvPr/>
        </p:nvSpPr>
        <p:spPr>
          <a:xfrm>
            <a:off x="9265920" y="1950720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3" b="1" dirty="0">
                <a:solidFill>
                  <a:schemeClr val="tx1"/>
                </a:solidFill>
              </a:rPr>
              <a:t>4. Governance</a:t>
            </a:r>
            <a:endParaRPr lang="en-US" sz="1733" dirty="0"/>
          </a:p>
        </p:txBody>
      </p:sp>
      <p:sp>
        <p:nvSpPr>
          <p:cNvPr id="18" name="Tier 4 body"/>
          <p:cNvSpPr txBox="1"/>
          <p:nvPr/>
        </p:nvSpPr>
        <p:spPr>
          <a:xfrm>
            <a:off x="9265920" y="2462784"/>
            <a:ext cx="207264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33" dirty="0">
                <a:solidFill>
                  <a:schemeClr val="tx2"/>
                </a:solidFill>
              </a:rPr>
              <a:t>Consent, role-based access, audit logs and safety monitoring across all tiers.</a:t>
            </a:r>
            <a:endParaRPr lang="en-US" sz="1733" dirty="0"/>
          </a:p>
        </p:txBody>
      </p:sp>
      <p:sp>
        <p:nvSpPr>
          <p:cNvPr id="19" name="Student box"/>
          <p:cNvSpPr/>
          <p:nvPr/>
        </p:nvSpPr>
        <p:spPr>
          <a:xfrm>
            <a:off x="609600" y="4815840"/>
            <a:ext cx="2560320" cy="9144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tudent label"/>
          <p:cNvSpPr txBox="1"/>
          <p:nvPr/>
        </p:nvSpPr>
        <p:spPr>
          <a:xfrm>
            <a:off x="609600" y="4815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chemeClr val="bg1"/>
                </a:solidFill>
              </a:rPr>
              <a:t>Student</a:t>
            </a:r>
            <a:endParaRPr lang="en-US" sz="1733" dirty="0"/>
          </a:p>
        </p:txBody>
      </p:sp>
      <p:sp>
        <p:nvSpPr>
          <p:cNvPr id="21" name="Arrow 1"/>
          <p:cNvSpPr/>
          <p:nvPr/>
        </p:nvSpPr>
        <p:spPr>
          <a:xfrm>
            <a:off x="3194304" y="5273040"/>
            <a:ext cx="19507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AI tutor box"/>
          <p:cNvSpPr/>
          <p:nvPr/>
        </p:nvSpPr>
        <p:spPr>
          <a:xfrm>
            <a:off x="3413760" y="4815840"/>
            <a:ext cx="2560320" cy="9144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AI tutor label"/>
          <p:cNvSpPr txBox="1"/>
          <p:nvPr/>
        </p:nvSpPr>
        <p:spPr>
          <a:xfrm>
            <a:off x="3413760" y="4815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chemeClr val="bg1"/>
                </a:solidFill>
              </a:rPr>
              <a:t>AI tutor</a:t>
            </a:r>
            <a:endParaRPr lang="en-US" sz="1733" dirty="0"/>
          </a:p>
        </p:txBody>
      </p:sp>
      <p:sp>
        <p:nvSpPr>
          <p:cNvPr id="24" name="Arrow 2"/>
          <p:cNvSpPr/>
          <p:nvPr/>
        </p:nvSpPr>
        <p:spPr>
          <a:xfrm>
            <a:off x="5998464" y="5273040"/>
            <a:ext cx="19507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Learner model box"/>
          <p:cNvSpPr/>
          <p:nvPr/>
        </p:nvSpPr>
        <p:spPr>
          <a:xfrm>
            <a:off x="6217920" y="4815840"/>
            <a:ext cx="2560320" cy="9144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Learner model label"/>
          <p:cNvSpPr txBox="1"/>
          <p:nvPr/>
        </p:nvSpPr>
        <p:spPr>
          <a:xfrm>
            <a:off x="6217920" y="4815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chemeClr val="bg1"/>
                </a:solidFill>
              </a:rPr>
              <a:t>Learner model</a:t>
            </a:r>
            <a:endParaRPr lang="en-US" sz="1733" dirty="0"/>
          </a:p>
        </p:txBody>
      </p:sp>
      <p:sp>
        <p:nvSpPr>
          <p:cNvPr id="27" name="Arrow 3"/>
          <p:cNvSpPr/>
          <p:nvPr/>
        </p:nvSpPr>
        <p:spPr>
          <a:xfrm>
            <a:off x="8802624" y="5273040"/>
            <a:ext cx="19507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acher dashboard box"/>
          <p:cNvSpPr/>
          <p:nvPr/>
        </p:nvSpPr>
        <p:spPr>
          <a:xfrm>
            <a:off x="9022080" y="4815840"/>
            <a:ext cx="2560320" cy="9144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acher dashboard label"/>
          <p:cNvSpPr txBox="1"/>
          <p:nvPr/>
        </p:nvSpPr>
        <p:spPr>
          <a:xfrm>
            <a:off x="9022080" y="4815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chemeClr val="bg1"/>
                </a:solidFill>
              </a:rPr>
              <a:t>Teacher dashboard</a:t>
            </a:r>
            <a:endParaRPr lang="en-US" sz="1733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rgbClr val="8A8F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6576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33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Core components</a:t>
            </a:r>
            <a:endParaRPr lang="en-US" sz="3733" dirty="0"/>
          </a:p>
        </p:txBody>
      </p:sp>
      <p:sp>
        <p:nvSpPr>
          <p:cNvPr id="3" name="Comp 1 card"/>
          <p:cNvSpPr/>
          <p:nvPr/>
        </p:nvSpPr>
        <p:spPr>
          <a:xfrm>
            <a:off x="609600" y="1584960"/>
            <a:ext cx="3535680" cy="207264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omp 1 accent"/>
          <p:cNvSpPr/>
          <p:nvPr/>
        </p:nvSpPr>
        <p:spPr>
          <a:xfrm>
            <a:off x="853440" y="1804416"/>
            <a:ext cx="609600" cy="60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omp 1 head"/>
          <p:cNvSpPr txBox="1"/>
          <p:nvPr/>
        </p:nvSpPr>
        <p:spPr>
          <a:xfrm>
            <a:off x="853440" y="195072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6" b="1" dirty="0">
                <a:solidFill>
                  <a:schemeClr val="tx1"/>
                </a:solidFill>
              </a:rPr>
              <a:t>AI tutor</a:t>
            </a:r>
            <a:endParaRPr lang="en-US" sz="1866" dirty="0"/>
          </a:p>
        </p:txBody>
      </p:sp>
      <p:sp>
        <p:nvSpPr>
          <p:cNvPr id="6" name="Comp 1 body"/>
          <p:cNvSpPr txBox="1"/>
          <p:nvPr/>
        </p:nvSpPr>
        <p:spPr>
          <a:xfrm>
            <a:off x="853440" y="2462784"/>
            <a:ext cx="30480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Retrieves approved content, then climbs a hint ladder: question, nudge, example, explanation.</a:t>
            </a:r>
            <a:endParaRPr lang="en-US" sz="1600" dirty="0"/>
          </a:p>
        </p:txBody>
      </p:sp>
      <p:sp>
        <p:nvSpPr>
          <p:cNvPr id="7" name="Comp 2 card"/>
          <p:cNvSpPr/>
          <p:nvPr/>
        </p:nvSpPr>
        <p:spPr>
          <a:xfrm>
            <a:off x="4328160" y="1584960"/>
            <a:ext cx="3535680" cy="207264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omp 2 accent"/>
          <p:cNvSpPr/>
          <p:nvPr/>
        </p:nvSpPr>
        <p:spPr>
          <a:xfrm>
            <a:off x="4572000" y="1804416"/>
            <a:ext cx="609600" cy="609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omp 2 head"/>
          <p:cNvSpPr txBox="1"/>
          <p:nvPr/>
        </p:nvSpPr>
        <p:spPr>
          <a:xfrm>
            <a:off x="4572000" y="195072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6" b="1" dirty="0">
                <a:solidFill>
                  <a:schemeClr val="tx1"/>
                </a:solidFill>
              </a:rPr>
              <a:t>Learner model</a:t>
            </a:r>
            <a:endParaRPr lang="en-US" sz="1866" dirty="0"/>
          </a:p>
        </p:txBody>
      </p:sp>
      <p:sp>
        <p:nvSpPr>
          <p:cNvPr id="10" name="Comp 2 body"/>
          <p:cNvSpPr txBox="1"/>
          <p:nvPr/>
        </p:nvSpPr>
        <p:spPr>
          <a:xfrm>
            <a:off x="4572000" y="2462784"/>
            <a:ext cx="30480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Concept map with prerequisites; mastery shown as a range, not a score. Teachers can reset it.</a:t>
            </a:r>
            <a:endParaRPr lang="en-US" sz="1600" dirty="0"/>
          </a:p>
        </p:txBody>
      </p:sp>
      <p:sp>
        <p:nvSpPr>
          <p:cNvPr id="11" name="Comp 3 card"/>
          <p:cNvSpPr/>
          <p:nvPr/>
        </p:nvSpPr>
        <p:spPr>
          <a:xfrm>
            <a:off x="8046720" y="1584960"/>
            <a:ext cx="3535680" cy="207264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Comp 3 accent"/>
          <p:cNvSpPr/>
          <p:nvPr/>
        </p:nvSpPr>
        <p:spPr>
          <a:xfrm>
            <a:off x="8290560" y="1804416"/>
            <a:ext cx="609600" cy="609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Comp 3 head"/>
          <p:cNvSpPr txBox="1"/>
          <p:nvPr/>
        </p:nvSpPr>
        <p:spPr>
          <a:xfrm>
            <a:off x="8290560" y="195072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6" b="1" dirty="0">
                <a:solidFill>
                  <a:schemeClr val="tx1"/>
                </a:solidFill>
              </a:rPr>
              <a:t>Assessment</a:t>
            </a:r>
            <a:endParaRPr lang="en-US" sz="1866" dirty="0"/>
          </a:p>
        </p:txBody>
      </p:sp>
      <p:sp>
        <p:nvSpPr>
          <p:cNvPr id="14" name="Comp 3 body"/>
          <p:cNvSpPr txBox="1"/>
          <p:nvPr/>
        </p:nvSpPr>
        <p:spPr>
          <a:xfrm>
            <a:off x="8290560" y="2462784"/>
            <a:ext cx="30480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Practice, explanations and projects over time, plus periodic AI-free checks. No single exam.</a:t>
            </a:r>
            <a:endParaRPr lang="en-US" sz="1600" dirty="0"/>
          </a:p>
        </p:txBody>
      </p:sp>
      <p:sp>
        <p:nvSpPr>
          <p:cNvPr id="15" name="Comp 4 card"/>
          <p:cNvSpPr/>
          <p:nvPr/>
        </p:nvSpPr>
        <p:spPr>
          <a:xfrm>
            <a:off x="609600" y="3840480"/>
            <a:ext cx="3535680" cy="207264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Comp 4 accent"/>
          <p:cNvSpPr/>
          <p:nvPr/>
        </p:nvSpPr>
        <p:spPr>
          <a:xfrm>
            <a:off x="853440" y="4059936"/>
            <a:ext cx="609600" cy="609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Comp 4 head"/>
          <p:cNvSpPr txBox="1"/>
          <p:nvPr/>
        </p:nvSpPr>
        <p:spPr>
          <a:xfrm>
            <a:off x="853440" y="420624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6" b="1" dirty="0">
                <a:solidFill>
                  <a:schemeClr val="tx1"/>
                </a:solidFill>
              </a:rPr>
              <a:t>Interest inference</a:t>
            </a:r>
            <a:endParaRPr lang="en-US" sz="1866" dirty="0"/>
          </a:p>
        </p:txBody>
      </p:sp>
      <p:sp>
        <p:nvSpPr>
          <p:cNvPr id="18" name="Comp 4 body"/>
          <p:cNvSpPr txBox="1"/>
          <p:nvPr/>
        </p:nvSpPr>
        <p:spPr>
          <a:xfrm>
            <a:off x="853440" y="4718304"/>
            <a:ext cx="30480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Simple, transparent rules on voluntary choices and engagement. Suggests, never ranks.</a:t>
            </a:r>
            <a:endParaRPr lang="en-US" sz="1600" dirty="0"/>
          </a:p>
        </p:txBody>
      </p:sp>
      <p:sp>
        <p:nvSpPr>
          <p:cNvPr id="19" name="Comp 5 card"/>
          <p:cNvSpPr/>
          <p:nvPr/>
        </p:nvSpPr>
        <p:spPr>
          <a:xfrm>
            <a:off x="4328160" y="3840480"/>
            <a:ext cx="3535680" cy="207264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Comp 5 accent"/>
          <p:cNvSpPr/>
          <p:nvPr/>
        </p:nvSpPr>
        <p:spPr>
          <a:xfrm>
            <a:off x="4572000" y="4059936"/>
            <a:ext cx="609600" cy="609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Comp 5 head"/>
          <p:cNvSpPr txBox="1"/>
          <p:nvPr/>
        </p:nvSpPr>
        <p:spPr>
          <a:xfrm>
            <a:off x="4572000" y="420624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6" b="1" dirty="0">
                <a:solidFill>
                  <a:schemeClr val="tx1"/>
                </a:solidFill>
              </a:rPr>
              <a:t>Teacher dashboard</a:t>
            </a:r>
            <a:endParaRPr lang="en-US" sz="1866" dirty="0"/>
          </a:p>
        </p:txBody>
      </p:sp>
      <p:sp>
        <p:nvSpPr>
          <p:cNvPr id="22" name="Comp 5 body"/>
          <p:cNvSpPr txBox="1"/>
          <p:nvPr/>
        </p:nvSpPr>
        <p:spPr>
          <a:xfrm>
            <a:off x="4572000" y="4718304"/>
            <a:ext cx="30480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Shows who is stuck and why, hint over-use, emerging strengths. Teacher can override or pause.</a:t>
            </a:r>
            <a:endParaRPr lang="en-US" sz="1600" dirty="0"/>
          </a:p>
        </p:txBody>
      </p:sp>
      <p:sp>
        <p:nvSpPr>
          <p:cNvPr id="23" name="Comp 6 card"/>
          <p:cNvSpPr/>
          <p:nvPr/>
        </p:nvSpPr>
        <p:spPr>
          <a:xfrm>
            <a:off x="8046720" y="3840480"/>
            <a:ext cx="3535680" cy="207264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Comp 6 accent"/>
          <p:cNvSpPr/>
          <p:nvPr/>
        </p:nvSpPr>
        <p:spPr>
          <a:xfrm>
            <a:off x="8290560" y="4059936"/>
            <a:ext cx="609600" cy="609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Comp 6 head"/>
          <p:cNvSpPr txBox="1"/>
          <p:nvPr/>
        </p:nvSpPr>
        <p:spPr>
          <a:xfrm>
            <a:off x="8290560" y="420624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6" b="1" dirty="0">
                <a:solidFill>
                  <a:schemeClr val="tx1"/>
                </a:solidFill>
              </a:rPr>
              <a:t>Content and labs</a:t>
            </a:r>
            <a:endParaRPr lang="en-US" sz="1866" dirty="0"/>
          </a:p>
        </p:txBody>
      </p:sp>
      <p:sp>
        <p:nvSpPr>
          <p:cNvPr id="26" name="Comp 6 body"/>
          <p:cNvSpPr txBox="1"/>
          <p:nvPr/>
        </p:nvSpPr>
        <p:spPr>
          <a:xfrm>
            <a:off x="8290560" y="4718304"/>
            <a:ext cx="30480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AI drafts, experts approve, versioned release. Offline virtual labs feed the learner model.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rgbClr val="8A8F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6576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33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the tutor and learner model work</a:t>
            </a:r>
            <a:endParaRPr lang="en-US" sz="3733" dirty="0"/>
          </a:p>
        </p:txBody>
      </p:sp>
      <p:sp>
        <p:nvSpPr>
          <p:cNvPr id="3" name="Step 1"/>
          <p:cNvSpPr/>
          <p:nvPr/>
        </p:nvSpPr>
        <p:spPr>
          <a:xfrm>
            <a:off x="609600" y="1584960"/>
            <a:ext cx="1767840" cy="146304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tep text 1"/>
          <p:cNvSpPr txBox="1"/>
          <p:nvPr/>
        </p:nvSpPr>
        <p:spPr>
          <a:xfrm>
            <a:off x="707136" y="1633728"/>
            <a:ext cx="157276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chemeClr val="bg1"/>
                </a:solidFill>
              </a:rPr>
              <a:t>1. Ask</a:t>
            </a:r>
            <a:endParaRPr lang="en-US" sz="1733" dirty="0"/>
          </a:p>
          <a:p>
            <a:pPr marL="0" indent="0" algn="ctr">
              <a:buNone/>
            </a:pPr>
            <a:r>
              <a:rPr lang="en-US" sz="1333" dirty="0">
                <a:solidFill>
                  <a:schemeClr val="bg1"/>
                </a:solidFill>
              </a:rPr>
              <a:t>Student asks or attempts an item</a:t>
            </a:r>
            <a:endParaRPr lang="en-US" sz="1733" dirty="0"/>
          </a:p>
        </p:txBody>
      </p:sp>
      <p:sp>
        <p:nvSpPr>
          <p:cNvPr id="5" name="Step 2"/>
          <p:cNvSpPr/>
          <p:nvPr/>
        </p:nvSpPr>
        <p:spPr>
          <a:xfrm>
            <a:off x="2450592" y="1584960"/>
            <a:ext cx="1767840" cy="14630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tep text 2"/>
          <p:cNvSpPr txBox="1"/>
          <p:nvPr/>
        </p:nvSpPr>
        <p:spPr>
          <a:xfrm>
            <a:off x="2548128" y="1633728"/>
            <a:ext cx="157276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chemeClr val="bg1"/>
                </a:solidFill>
              </a:rPr>
              <a:t>2. Map</a:t>
            </a:r>
            <a:endParaRPr lang="en-US" sz="1733" dirty="0"/>
          </a:p>
          <a:p>
            <a:pPr marL="0" indent="0" algn="ctr">
              <a:buNone/>
            </a:pPr>
            <a:r>
              <a:rPr lang="en-US" sz="1333" dirty="0">
                <a:solidFill>
                  <a:schemeClr val="bg1"/>
                </a:solidFill>
              </a:rPr>
              <a:t>Mapped to a concept ID</a:t>
            </a:r>
            <a:endParaRPr lang="en-US" sz="1733" dirty="0"/>
          </a:p>
        </p:txBody>
      </p:sp>
      <p:sp>
        <p:nvSpPr>
          <p:cNvPr id="7" name="Step 3"/>
          <p:cNvSpPr/>
          <p:nvPr/>
        </p:nvSpPr>
        <p:spPr>
          <a:xfrm>
            <a:off x="4291584" y="1584960"/>
            <a:ext cx="1767840" cy="146304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tep text 3"/>
          <p:cNvSpPr txBox="1"/>
          <p:nvPr/>
        </p:nvSpPr>
        <p:spPr>
          <a:xfrm>
            <a:off x="4389120" y="1633728"/>
            <a:ext cx="157276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chemeClr val="bg1"/>
                </a:solidFill>
              </a:rPr>
              <a:t>3. Retrieve</a:t>
            </a:r>
            <a:endParaRPr lang="en-US" sz="1733" dirty="0"/>
          </a:p>
          <a:p>
            <a:pPr marL="0" indent="0" algn="ctr">
              <a:buNone/>
            </a:pPr>
            <a:r>
              <a:rPr lang="en-US" sz="1333" dirty="0">
                <a:solidFill>
                  <a:schemeClr val="bg1"/>
                </a:solidFill>
              </a:rPr>
              <a:t>Approved passages fetched</a:t>
            </a:r>
            <a:endParaRPr lang="en-US" sz="1733" dirty="0"/>
          </a:p>
        </p:txBody>
      </p:sp>
      <p:sp>
        <p:nvSpPr>
          <p:cNvPr id="9" name="Step 4"/>
          <p:cNvSpPr/>
          <p:nvPr/>
        </p:nvSpPr>
        <p:spPr>
          <a:xfrm>
            <a:off x="6132576" y="1584960"/>
            <a:ext cx="1767840" cy="14630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tep text 4"/>
          <p:cNvSpPr txBox="1"/>
          <p:nvPr/>
        </p:nvSpPr>
        <p:spPr>
          <a:xfrm>
            <a:off x="6230112" y="1633728"/>
            <a:ext cx="157276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chemeClr val="bg1"/>
                </a:solidFill>
              </a:rPr>
              <a:t>4. Read</a:t>
            </a:r>
            <a:endParaRPr lang="en-US" sz="1733" dirty="0"/>
          </a:p>
          <a:p>
            <a:pPr marL="0" indent="0" algn="ctr">
              <a:buNone/>
            </a:pPr>
            <a:r>
              <a:rPr lang="en-US" sz="1333" dirty="0">
                <a:solidFill>
                  <a:schemeClr val="bg1"/>
                </a:solidFill>
              </a:rPr>
              <a:t>Mastery and recent errors loaded</a:t>
            </a:r>
            <a:endParaRPr lang="en-US" sz="1733" dirty="0"/>
          </a:p>
        </p:txBody>
      </p:sp>
      <p:sp>
        <p:nvSpPr>
          <p:cNvPr id="11" name="Step 5"/>
          <p:cNvSpPr/>
          <p:nvPr/>
        </p:nvSpPr>
        <p:spPr>
          <a:xfrm>
            <a:off x="7973568" y="1584960"/>
            <a:ext cx="1767840" cy="146304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tep text 5"/>
          <p:cNvSpPr txBox="1"/>
          <p:nvPr/>
        </p:nvSpPr>
        <p:spPr>
          <a:xfrm>
            <a:off x="8071104" y="1633728"/>
            <a:ext cx="157276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chemeClr val="bg1"/>
                </a:solidFill>
              </a:rPr>
              <a:t>5. Hint</a:t>
            </a:r>
            <a:endParaRPr lang="en-US" sz="1733" dirty="0"/>
          </a:p>
          <a:p>
            <a:pPr marL="0" indent="0" algn="ctr">
              <a:buNone/>
            </a:pPr>
            <a:r>
              <a:rPr lang="en-US" sz="1333" dirty="0">
                <a:solidFill>
                  <a:schemeClr val="bg1"/>
                </a:solidFill>
              </a:rPr>
              <a:t>Ladder level chosen; answer-leak check</a:t>
            </a:r>
            <a:endParaRPr lang="en-US" sz="1733" dirty="0"/>
          </a:p>
        </p:txBody>
      </p:sp>
      <p:sp>
        <p:nvSpPr>
          <p:cNvPr id="13" name="Step 6"/>
          <p:cNvSpPr/>
          <p:nvPr/>
        </p:nvSpPr>
        <p:spPr>
          <a:xfrm>
            <a:off x="9814560" y="1584960"/>
            <a:ext cx="1767840" cy="14630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tep text 6"/>
          <p:cNvSpPr txBox="1"/>
          <p:nvPr/>
        </p:nvSpPr>
        <p:spPr>
          <a:xfrm>
            <a:off x="9912096" y="1633728"/>
            <a:ext cx="157276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33" b="1" dirty="0">
                <a:solidFill>
                  <a:schemeClr val="bg1"/>
                </a:solidFill>
              </a:rPr>
              <a:t>6. Update</a:t>
            </a:r>
            <a:endParaRPr lang="en-US" sz="1733" dirty="0"/>
          </a:p>
          <a:p>
            <a:pPr marL="0" indent="0" algn="ctr">
              <a:buNone/>
            </a:pPr>
            <a:r>
              <a:rPr lang="en-US" sz="1333" dirty="0">
                <a:solidFill>
                  <a:schemeClr val="bg1"/>
                </a:solidFill>
              </a:rPr>
              <a:t>Attempt logged, mastery updated</a:t>
            </a:r>
            <a:endParaRPr lang="en-US" sz="1733" dirty="0"/>
          </a:p>
        </p:txBody>
      </p:sp>
      <p:sp>
        <p:nvSpPr>
          <p:cNvPr id="15" name="Mastery card"/>
          <p:cNvSpPr/>
          <p:nvPr/>
        </p:nvSpPr>
        <p:spPr>
          <a:xfrm>
            <a:off x="609600" y="3291840"/>
            <a:ext cx="5364480" cy="262128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Mastery accent"/>
          <p:cNvSpPr/>
          <p:nvPr/>
        </p:nvSpPr>
        <p:spPr>
          <a:xfrm>
            <a:off x="853440" y="3511296"/>
            <a:ext cx="609600" cy="60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Mastery head"/>
          <p:cNvSpPr txBox="1"/>
          <p:nvPr/>
        </p:nvSpPr>
        <p:spPr>
          <a:xfrm>
            <a:off x="853440" y="365760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3" b="1" dirty="0">
                <a:solidFill>
                  <a:schemeClr val="tx1"/>
                </a:solidFill>
              </a:rPr>
              <a:t>Mastery update (Bayesian Knowledge Tracing)</a:t>
            </a:r>
            <a:endParaRPr lang="en-US" sz="1733" dirty="0"/>
          </a:p>
        </p:txBody>
      </p:sp>
      <p:sp>
        <p:nvSpPr>
          <p:cNvPr id="18" name="Mastery body"/>
          <p:cNvSpPr txBox="1"/>
          <p:nvPr/>
        </p:nvSpPr>
        <p:spPr>
          <a:xfrm>
            <a:off x="853440" y="4169664"/>
            <a:ext cx="48768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P(known) updated after every attempt using slip, guess and learn rates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Bands: under 0.4 Not yet; 0.4-0.95 Developing; 0.95+ Mastered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Starting values, tuned on pilot data</a:t>
            </a:r>
            <a:endParaRPr lang="en-US" sz="1600" dirty="0"/>
          </a:p>
        </p:txBody>
      </p:sp>
      <p:sp>
        <p:nvSpPr>
          <p:cNvPr id="19" name="Alerts card"/>
          <p:cNvSpPr/>
          <p:nvPr/>
        </p:nvSpPr>
        <p:spPr>
          <a:xfrm>
            <a:off x="6217920" y="3291840"/>
            <a:ext cx="5364480" cy="262128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Alerts accent"/>
          <p:cNvSpPr/>
          <p:nvPr/>
        </p:nvSpPr>
        <p:spPr>
          <a:xfrm>
            <a:off x="6461760" y="3511296"/>
            <a:ext cx="609600" cy="609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Alerts head"/>
          <p:cNvSpPr txBox="1"/>
          <p:nvPr/>
        </p:nvSpPr>
        <p:spPr>
          <a:xfrm>
            <a:off x="6461760" y="365760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3" b="1" dirty="0">
                <a:solidFill>
                  <a:schemeClr val="tx1"/>
                </a:solidFill>
              </a:rPr>
              <a:t>Teacher alerts (starting rules)</a:t>
            </a:r>
            <a:endParaRPr lang="en-US" sz="1733" dirty="0"/>
          </a:p>
        </p:txBody>
      </p:sp>
      <p:sp>
        <p:nvSpPr>
          <p:cNvPr id="22" name="Alerts body"/>
          <p:cNvSpPr txBox="1"/>
          <p:nvPr/>
        </p:nvSpPr>
        <p:spPr>
          <a:xfrm>
            <a:off x="6461760" y="4169664"/>
            <a:ext cx="48768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Stuck: under 0.4 after 5+ attempts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Hint-heavy: 3+ hints on 3 of last 5 attempts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Drop: correctness down 20+ points vs previous 5 sessions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rgbClr val="8A8F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6576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33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Tools, AI models and safeguards</a:t>
            </a:r>
            <a:endParaRPr lang="en-US" sz="3733" dirty="0"/>
          </a:p>
        </p:txBody>
      </p:sp>
      <p:sp>
        <p:nvSpPr>
          <p:cNvPr id="3" name="Tools card"/>
          <p:cNvSpPr/>
          <p:nvPr/>
        </p:nvSpPr>
        <p:spPr>
          <a:xfrm>
            <a:off x="609600" y="1584960"/>
            <a:ext cx="5364480" cy="42672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ools accent"/>
          <p:cNvSpPr/>
          <p:nvPr/>
        </p:nvSpPr>
        <p:spPr>
          <a:xfrm>
            <a:off x="853440" y="1804416"/>
            <a:ext cx="609600" cy="60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ools head"/>
          <p:cNvSpPr txBox="1"/>
          <p:nvPr/>
        </p:nvSpPr>
        <p:spPr>
          <a:xfrm>
            <a:off x="853440" y="195072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Tools and AI models</a:t>
            </a:r>
            <a:endParaRPr lang="en-US" sz="2000" dirty="0"/>
          </a:p>
        </p:txBody>
      </p:sp>
      <p:sp>
        <p:nvSpPr>
          <p:cNvPr id="6" name="Tools body"/>
          <p:cNvSpPr txBox="1"/>
          <p:nvPr/>
        </p:nvSpPr>
        <p:spPr>
          <a:xfrm>
            <a:off x="853440" y="2462784"/>
            <a:ext cx="4876800" cy="323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66" dirty="0">
                <a:solidFill>
                  <a:schemeClr val="tx2"/>
                </a:solidFill>
              </a:rPr>
              <a:t>Web app (React) with a Python backend and PostgreSQL database</a:t>
            </a:r>
            <a:endParaRPr lang="en-US" sz="1866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66" dirty="0">
                <a:solidFill>
                  <a:schemeClr val="tx2"/>
                </a:solidFill>
              </a:rPr>
              <a:t>Large language model (e.g. Claude) for tutoring; small model for routine tasks</a:t>
            </a:r>
            <a:endParaRPr lang="en-US" sz="1866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66" dirty="0">
                <a:solidFill>
                  <a:schemeClr val="tx2"/>
                </a:solidFill>
              </a:rPr>
              <a:t>Speech models for Indian languages</a:t>
            </a:r>
            <a:endParaRPr lang="en-US" sz="1866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66" dirty="0">
                <a:solidFill>
                  <a:schemeClr val="tx2"/>
                </a:solidFill>
              </a:rPr>
              <a:t>Bayesian Knowledge Tracing for mastery estimates</a:t>
            </a:r>
            <a:endParaRPr lang="en-US" sz="1866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66" dirty="0">
                <a:solidFill>
                  <a:schemeClr val="tx2"/>
                </a:solidFill>
              </a:rPr>
              <a:t>Docker: school server plus cloud</a:t>
            </a:r>
            <a:endParaRPr lang="en-US" sz="1866" dirty="0"/>
          </a:p>
        </p:txBody>
      </p:sp>
      <p:sp>
        <p:nvSpPr>
          <p:cNvPr id="7" name="Safe card"/>
          <p:cNvSpPr/>
          <p:nvPr/>
        </p:nvSpPr>
        <p:spPr>
          <a:xfrm>
            <a:off x="6217920" y="1584960"/>
            <a:ext cx="5364480" cy="42672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afe accent"/>
          <p:cNvSpPr/>
          <p:nvPr/>
        </p:nvSpPr>
        <p:spPr>
          <a:xfrm>
            <a:off x="6461760" y="1804416"/>
            <a:ext cx="609600" cy="609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afe head"/>
          <p:cNvSpPr txBox="1"/>
          <p:nvPr/>
        </p:nvSpPr>
        <p:spPr>
          <a:xfrm>
            <a:off x="6461760" y="195072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Privacy, safety and fairness</a:t>
            </a:r>
            <a:endParaRPr lang="en-US" sz="2000" dirty="0"/>
          </a:p>
        </p:txBody>
      </p:sp>
      <p:sp>
        <p:nvSpPr>
          <p:cNvPr id="10" name="Safe body"/>
          <p:cNvSpPr txBox="1"/>
          <p:nvPr/>
        </p:nvSpPr>
        <p:spPr>
          <a:xfrm>
            <a:off x="6461760" y="2462784"/>
            <a:ext cx="4876800" cy="323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66" dirty="0">
                <a:solidFill>
                  <a:schemeClr val="tx2"/>
                </a:solidFill>
              </a:rPr>
              <a:t>Pseudonymous IDs; identity mapping stays at school</a:t>
            </a:r>
            <a:endParaRPr lang="en-US" sz="1866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66" dirty="0">
                <a:solidFill>
                  <a:schemeClr val="tx2"/>
                </a:solidFill>
              </a:rPr>
              <a:t>No ads, no data sale; DPDP Act compliance</a:t>
            </a:r>
            <a:endParaRPr lang="en-US" sz="1866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66" dirty="0">
                <a:solidFill>
                  <a:schemeClr val="tx2"/>
                </a:solidFill>
              </a:rPr>
              <a:t>Child-safety testing before each release</a:t>
            </a:r>
            <a:endParaRPr lang="en-US" sz="1866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66" dirty="0">
                <a:solidFill>
                  <a:schemeClr val="tx2"/>
                </a:solidFill>
              </a:rPr>
              <a:t>Bias audits across languages and regions</a:t>
            </a:r>
            <a:endParaRPr lang="en-US" sz="1866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866" dirty="0">
                <a:solidFill>
                  <a:schemeClr val="tx2"/>
                </a:solidFill>
              </a:rPr>
              <a:t>Hint flags and AI-free checks against over-reliance</a:t>
            </a:r>
            <a:endParaRPr lang="en-US" sz="186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rgbClr val="8A8F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6576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33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Building it with Cline</a:t>
            </a:r>
            <a:endParaRPr lang="en-US" sz="3733" dirty="0"/>
          </a:p>
        </p:txBody>
      </p:sp>
      <p:sp>
        <p:nvSpPr>
          <p:cNvPr id="3" name="Cline 1 card"/>
          <p:cNvSpPr/>
          <p:nvPr/>
        </p:nvSpPr>
        <p:spPr>
          <a:xfrm>
            <a:off x="609600" y="1524000"/>
            <a:ext cx="3535680" cy="18288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line 1 accent"/>
          <p:cNvSpPr/>
          <p:nvPr/>
        </p:nvSpPr>
        <p:spPr>
          <a:xfrm>
            <a:off x="853440" y="1743456"/>
            <a:ext cx="609600" cy="60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line 1 head"/>
          <p:cNvSpPr txBox="1"/>
          <p:nvPr/>
        </p:nvSpPr>
        <p:spPr>
          <a:xfrm>
            <a:off x="853440" y="188976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3" b="1" dirty="0">
                <a:solidFill>
                  <a:schemeClr val="tx1"/>
                </a:solidFill>
              </a:rPr>
              <a:t>1. Plan</a:t>
            </a:r>
            <a:endParaRPr lang="en-US" sz="1733" dirty="0"/>
          </a:p>
        </p:txBody>
      </p:sp>
      <p:sp>
        <p:nvSpPr>
          <p:cNvPr id="6" name="Cline 1 body"/>
          <p:cNvSpPr txBox="1"/>
          <p:nvPr/>
        </p:nvSpPr>
        <p:spPr>
          <a:xfrm>
            <a:off x="853440" y="2401824"/>
            <a:ext cx="3048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66" dirty="0">
                <a:solidFill>
                  <a:schemeClr val="tx2"/>
                </a:solidFill>
              </a:rPr>
              <a:t>Plan mode turns the documentation into a module plan and API contracts before any code.</a:t>
            </a:r>
            <a:endParaRPr lang="en-US" sz="1466" dirty="0"/>
          </a:p>
        </p:txBody>
      </p:sp>
      <p:sp>
        <p:nvSpPr>
          <p:cNvPr id="7" name="Cline 2 card"/>
          <p:cNvSpPr/>
          <p:nvPr/>
        </p:nvSpPr>
        <p:spPr>
          <a:xfrm>
            <a:off x="4328160" y="1524000"/>
            <a:ext cx="3535680" cy="18288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line 2 accent"/>
          <p:cNvSpPr/>
          <p:nvPr/>
        </p:nvSpPr>
        <p:spPr>
          <a:xfrm>
            <a:off x="4572000" y="1743456"/>
            <a:ext cx="609600" cy="609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line 2 head"/>
          <p:cNvSpPr txBox="1"/>
          <p:nvPr/>
        </p:nvSpPr>
        <p:spPr>
          <a:xfrm>
            <a:off x="4572000" y="188976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3" b="1" dirty="0">
                <a:solidFill>
                  <a:schemeClr val="tx1"/>
                </a:solidFill>
              </a:rPr>
              <a:t>2. Rules file</a:t>
            </a:r>
            <a:endParaRPr lang="en-US" sz="1733" dirty="0"/>
          </a:p>
        </p:txBody>
      </p:sp>
      <p:sp>
        <p:nvSpPr>
          <p:cNvPr id="10" name="Cline 2 body"/>
          <p:cNvSpPr txBox="1"/>
          <p:nvPr/>
        </p:nvSpPr>
        <p:spPr>
          <a:xfrm>
            <a:off x="4572000" y="2401824"/>
            <a:ext cx="3048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66" dirty="0">
                <a:solidFill>
                  <a:schemeClr val="tx2"/>
                </a:solidFill>
              </a:rPr>
              <a:t>.clinerules and memory bank hold the hint ladder, no-ranking rule, data model and conventions.</a:t>
            </a:r>
            <a:endParaRPr lang="en-US" sz="1466" dirty="0"/>
          </a:p>
        </p:txBody>
      </p:sp>
      <p:sp>
        <p:nvSpPr>
          <p:cNvPr id="11" name="Cline 3 card"/>
          <p:cNvSpPr/>
          <p:nvPr/>
        </p:nvSpPr>
        <p:spPr>
          <a:xfrm>
            <a:off x="8046720" y="1524000"/>
            <a:ext cx="3535680" cy="18288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Cline 3 accent"/>
          <p:cNvSpPr/>
          <p:nvPr/>
        </p:nvSpPr>
        <p:spPr>
          <a:xfrm>
            <a:off x="8290560" y="1743456"/>
            <a:ext cx="609600" cy="609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Cline 3 head"/>
          <p:cNvSpPr txBox="1"/>
          <p:nvPr/>
        </p:nvSpPr>
        <p:spPr>
          <a:xfrm>
            <a:off x="8290560" y="188976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3" b="1" dirty="0">
                <a:solidFill>
                  <a:schemeClr val="tx1"/>
                </a:solidFill>
              </a:rPr>
              <a:t>3. Scaffold</a:t>
            </a:r>
            <a:endParaRPr lang="en-US" sz="1733" dirty="0"/>
          </a:p>
        </p:txBody>
      </p:sp>
      <p:sp>
        <p:nvSpPr>
          <p:cNvPr id="14" name="Cline 3 body"/>
          <p:cNvSpPr txBox="1"/>
          <p:nvPr/>
        </p:nvSpPr>
        <p:spPr>
          <a:xfrm>
            <a:off x="8290560" y="2401824"/>
            <a:ext cx="3048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66" dirty="0">
                <a:solidFill>
                  <a:schemeClr val="tx2"/>
                </a:solidFill>
              </a:rPr>
              <a:t>Builds schema, auth, content, learner model, tutor, dashboard, sync and app, with checkpoints.</a:t>
            </a:r>
            <a:endParaRPr lang="en-US" sz="1466" dirty="0"/>
          </a:p>
        </p:txBody>
      </p:sp>
      <p:sp>
        <p:nvSpPr>
          <p:cNvPr id="15" name="Cline 4 card"/>
          <p:cNvSpPr/>
          <p:nvPr/>
        </p:nvSpPr>
        <p:spPr>
          <a:xfrm>
            <a:off x="609600" y="3474720"/>
            <a:ext cx="3535680" cy="18288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Cline 4 accent"/>
          <p:cNvSpPr/>
          <p:nvPr/>
        </p:nvSpPr>
        <p:spPr>
          <a:xfrm>
            <a:off x="853440" y="3694176"/>
            <a:ext cx="609600" cy="609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Cline 4 head"/>
          <p:cNvSpPr txBox="1"/>
          <p:nvPr/>
        </p:nvSpPr>
        <p:spPr>
          <a:xfrm>
            <a:off x="853440" y="384048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3" b="1" dirty="0">
                <a:solidFill>
                  <a:schemeClr val="tx1"/>
                </a:solidFill>
              </a:rPr>
              <a:t>4. Test</a:t>
            </a:r>
            <a:endParaRPr lang="en-US" sz="1733" dirty="0"/>
          </a:p>
        </p:txBody>
      </p:sp>
      <p:sp>
        <p:nvSpPr>
          <p:cNvPr id="18" name="Cline 4 body"/>
          <p:cNvSpPr txBox="1"/>
          <p:nvPr/>
        </p:nvSpPr>
        <p:spPr>
          <a:xfrm>
            <a:off x="853440" y="4352544"/>
            <a:ext cx="3048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66" dirty="0">
                <a:solidFill>
                  <a:schemeClr val="tx2"/>
                </a:solidFill>
              </a:rPr>
              <a:t>Writes BKT unit tests against hand-calculated cases, alert-rule tests and answer-leak tests.</a:t>
            </a:r>
            <a:endParaRPr lang="en-US" sz="1466" dirty="0"/>
          </a:p>
        </p:txBody>
      </p:sp>
      <p:sp>
        <p:nvSpPr>
          <p:cNvPr id="19" name="Cline 5 card"/>
          <p:cNvSpPr/>
          <p:nvPr/>
        </p:nvSpPr>
        <p:spPr>
          <a:xfrm>
            <a:off x="4328160" y="3474720"/>
            <a:ext cx="3535680" cy="18288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Cline 5 accent"/>
          <p:cNvSpPr/>
          <p:nvPr/>
        </p:nvSpPr>
        <p:spPr>
          <a:xfrm>
            <a:off x="4572000" y="3694176"/>
            <a:ext cx="609600" cy="609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Cline 5 head"/>
          <p:cNvSpPr txBox="1"/>
          <p:nvPr/>
        </p:nvSpPr>
        <p:spPr>
          <a:xfrm>
            <a:off x="4572000" y="384048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3" b="1" dirty="0">
                <a:solidFill>
                  <a:schemeClr val="tx1"/>
                </a:solidFill>
              </a:rPr>
              <a:t>5. Connect (MCP)</a:t>
            </a:r>
            <a:endParaRPr lang="en-US" sz="1733" dirty="0"/>
          </a:p>
        </p:txBody>
      </p:sp>
      <p:sp>
        <p:nvSpPr>
          <p:cNvPr id="22" name="Cline 5 body"/>
          <p:cNvSpPr txBox="1"/>
          <p:nvPr/>
        </p:nvSpPr>
        <p:spPr>
          <a:xfrm>
            <a:off x="4572000" y="4352544"/>
            <a:ext cx="3048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66" dirty="0">
                <a:solidFill>
                  <a:schemeClr val="tx2"/>
                </a:solidFill>
              </a:rPr>
              <a:t>MCP servers let Cline inspect the database and docs, and verify queries directly.</a:t>
            </a:r>
            <a:endParaRPr lang="en-US" sz="1466" dirty="0"/>
          </a:p>
        </p:txBody>
      </p:sp>
      <p:sp>
        <p:nvSpPr>
          <p:cNvPr id="23" name="Cline 6 card"/>
          <p:cNvSpPr/>
          <p:nvPr/>
        </p:nvSpPr>
        <p:spPr>
          <a:xfrm>
            <a:off x="8046720" y="3474720"/>
            <a:ext cx="3535680" cy="18288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Cline 6 accent"/>
          <p:cNvSpPr/>
          <p:nvPr/>
        </p:nvSpPr>
        <p:spPr>
          <a:xfrm>
            <a:off x="8290560" y="3694176"/>
            <a:ext cx="609600" cy="609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Cline 6 head"/>
          <p:cNvSpPr txBox="1"/>
          <p:nvPr/>
        </p:nvSpPr>
        <p:spPr>
          <a:xfrm>
            <a:off x="8290560" y="384048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3" b="1" dirty="0">
                <a:solidFill>
                  <a:schemeClr val="tx1"/>
                </a:solidFill>
              </a:rPr>
              <a:t>6. Review</a:t>
            </a:r>
            <a:endParaRPr lang="en-US" sz="1733" dirty="0"/>
          </a:p>
        </p:txBody>
      </p:sp>
      <p:sp>
        <p:nvSpPr>
          <p:cNvPr id="26" name="Cline 6 body"/>
          <p:cNvSpPr txBox="1"/>
          <p:nvPr/>
        </p:nvSpPr>
        <p:spPr>
          <a:xfrm>
            <a:off x="8290560" y="4352544"/>
            <a:ext cx="3048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66" dirty="0">
                <a:solidFill>
                  <a:schemeClr val="tx2"/>
                </a:solidFill>
              </a:rPr>
              <a:t>Every diff is human-approved; a final pass checks secrets, access checks and student data in logs.</a:t>
            </a:r>
            <a:endParaRPr lang="en-US" sz="1466" dirty="0"/>
          </a:p>
        </p:txBody>
      </p:sp>
      <p:sp>
        <p:nvSpPr>
          <p:cNvPr id="27" name="Roadmap band"/>
          <p:cNvSpPr/>
          <p:nvPr/>
        </p:nvSpPr>
        <p:spPr>
          <a:xfrm>
            <a:off x="609600" y="5486400"/>
            <a:ext cx="10241280" cy="79248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Roadmap text"/>
          <p:cNvSpPr txBox="1"/>
          <p:nvPr/>
        </p:nvSpPr>
        <p:spPr>
          <a:xfrm>
            <a:off x="853440" y="5486400"/>
            <a:ext cx="97536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</a:rPr>
              <a:t>Roadmap: </a:t>
            </a:r>
            <a:r>
              <a:rPr lang="en-US" sz="1600" dirty="0">
                <a:solidFill>
                  <a:srgbClr val="FFFFFF"/>
                </a:solidFill>
              </a:rPr>
              <a:t>Prototype, then Pilot (Grades 1-2), then Foundation (Grades 1-4), then Pathways and scale. Cline uses synthetic data only.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rgbClr val="8A8F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ing Teal">
  <a:themeElements>
    <a:clrScheme name="Learning Teal">
      <a:dk1>
        <a:srgbClr val="1F2A2A"/>
      </a:dk1>
      <a:lt1>
        <a:srgbClr val="FFFFFF"/>
      </a:lt1>
      <a:dk2>
        <a:srgbClr val="0F3D3E"/>
      </a:dk2>
      <a:lt2>
        <a:srgbClr val="E6F2F0"/>
      </a:lt2>
      <a:accent1>
        <a:srgbClr val="1B7F79"/>
      </a:accent1>
      <a:accent2>
        <a:srgbClr val="F2A93B"/>
      </a:accent2>
      <a:accent3>
        <a:srgbClr val="E4572E"/>
      </a:accent3>
      <a:accent4>
        <a:srgbClr val="6FB7A8"/>
      </a:accent4>
      <a:accent5>
        <a:srgbClr val="7A5C99"/>
      </a:accent5>
      <a:accent6>
        <a:srgbClr val="4D6B6A"/>
      </a:accent6>
      <a:hlink>
        <a:srgbClr val="1B7F79"/>
      </a:hlink>
      <a:folHlink>
        <a:srgbClr val="7A5C99"/>
      </a:folHlink>
    </a:clrScheme>
    <a:fontScheme name="Learning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duAI">
  <a:themeElements>
    <a:clrScheme name="EduAI">
      <a:dk1>
        <a:srgbClr val="1B2A4A"/>
      </a:dk1>
      <a:lt1>
        <a:srgbClr val="FFFFFF"/>
      </a:lt1>
      <a:dk2>
        <a:srgbClr val="2F4A7A"/>
      </a:dk2>
      <a:lt2>
        <a:srgbClr val="F4F1EA"/>
      </a:lt2>
      <a:accent1>
        <a:srgbClr val="0E8F8F"/>
      </a:accent1>
      <a:accent2>
        <a:srgbClr val="E8A33D"/>
      </a:accent2>
      <a:accent3>
        <a:srgbClr val="5B7DB1"/>
      </a:accent3>
      <a:accent4>
        <a:srgbClr val="C8553D"/>
      </a:accent4>
      <a:accent5>
        <a:srgbClr val="7A9E7E"/>
      </a:accent5>
      <a:accent6>
        <a:srgbClr val="8A8FA3"/>
      </a:accent6>
      <a:hlink>
        <a:srgbClr val="0E8F8F"/>
      </a:hlink>
      <a:folHlink>
        <a:srgbClr val="8A8FA3"/>
      </a:folHlink>
    </a:clrScheme>
    <a:fontScheme name="EduAI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1304</Words>
  <Application>Microsoft Office PowerPoint</Application>
  <PresentationFormat>Widescreen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</vt:lpstr>
      <vt:lpstr>Georgia</vt:lpstr>
      <vt:lpstr>Learning Teal</vt:lpstr>
      <vt:lpstr>EduAI</vt:lpstr>
      <vt:lpstr>PowerPoint Presentation</vt:lpstr>
      <vt:lpstr>How the system works</vt:lpstr>
      <vt:lpstr>Student, teacher and AI: who does what</vt:lpstr>
      <vt:lpstr>Risks, safeguards and impact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Reinventing Education with AI</dc:title>
  <dc:subject>PptxGenJS Presentation</dc:subject>
  <dc:creator>PptxGenJS</dc:creator>
  <cp:lastModifiedBy>KHAKARE AADITYA JANARDHAN</cp:lastModifiedBy>
  <cp:revision>4</cp:revision>
  <dcterms:created xsi:type="dcterms:W3CDTF">2026-10-03T06:29:21Z</dcterms:created>
  <dcterms:modified xsi:type="dcterms:W3CDTF">2026-10-04T14:01:37Z</dcterms:modified>
</cp:coreProperties>
</file>